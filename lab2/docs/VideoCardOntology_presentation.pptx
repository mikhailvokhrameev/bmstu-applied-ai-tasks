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59" r:id="rId6"/>
  </p:sldIdLst>
  <p:sldSz cx="9907588" cy="6858000"/>
  <p:notesSz cx="9907588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5" d="100"/>
          <a:sy n="65" d="100"/>
        </p:scale>
        <p:origin x="1380" y="78"/>
      </p:cViewPr>
      <p:guideLst>
        <p:guide pos="312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14.xml"/><Relationship Id="rId7" Type="http://schemas.openxmlformats.org/officeDocument/2006/relationships/presProps" Target="presProps.xml"/><Relationship Id="rId8" Type="http://schemas.openxmlformats.org/officeDocument/2006/relationships/tableStyles" Target="tableStyles.xml"/><Relationship Id="rId9" Type="http://schemas.openxmlformats.org/officeDocument/2006/relationships/viewProps" Target="viewProp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80760" y="1825200"/>
            <a:ext cx="8545320" cy="43513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998"/>
              </a:spcBef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854532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416988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 bwMode="auto">
          <a:xfrm>
            <a:off x="5059440" y="1825200"/>
            <a:ext cx="416988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680760" y="365040"/>
            <a:ext cx="8545320" cy="61455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998"/>
              </a:spcBef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 bwMode="auto">
          <a:xfrm>
            <a:off x="5059440" y="1825200"/>
            <a:ext cx="416988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 bwMode="auto">
          <a:xfrm>
            <a:off x="680760" y="409824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416988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 bwMode="auto">
          <a:xfrm>
            <a:off x="505944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 bwMode="auto">
          <a:xfrm>
            <a:off x="5059440" y="409824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 bwMode="auto">
          <a:xfrm>
            <a:off x="505944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 bwMode="auto">
          <a:xfrm>
            <a:off x="680760" y="4098240"/>
            <a:ext cx="854532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854532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 bwMode="auto">
          <a:xfrm>
            <a:off x="680760" y="4098240"/>
            <a:ext cx="854532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 bwMode="auto">
          <a:xfrm>
            <a:off x="5059440" y="182520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 bwMode="auto">
          <a:xfrm>
            <a:off x="680760" y="409824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 bwMode="auto">
          <a:xfrm>
            <a:off x="5059440" y="4098240"/>
            <a:ext cx="41698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 bwMode="auto">
          <a:xfrm>
            <a:off x="3570120" y="182520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 bwMode="auto">
          <a:xfrm>
            <a:off x="6459480" y="182520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 bwMode="auto">
          <a:xfrm>
            <a:off x="680760" y="409824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 bwMode="auto">
          <a:xfrm>
            <a:off x="3570120" y="409824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 bwMode="auto">
          <a:xfrm>
            <a:off x="6459480" y="4098240"/>
            <a:ext cx="275148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680760" y="365040"/>
            <a:ext cx="854532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 bwMode="auto">
          <a:xfrm>
            <a:off x="680760" y="1825200"/>
            <a:ext cx="854532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228600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/>
          </a:p>
          <a:p>
            <a:pPr marL="685800" lvl="1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/>
          </a:p>
          <a:p>
            <a:pPr marL="1143000" lvl="2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/>
          </a:p>
          <a:p>
            <a:pPr marL="1600200" lvl="3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/>
          </a:p>
          <a:p>
            <a:pPr marL="2057400" lvl="4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/>
          </a:p>
          <a:p>
            <a:pPr marL="2057400" lvl="5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/>
          </a:p>
          <a:p>
            <a:pPr marL="2057400" lvl="6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 bwMode="auto">
          <a:xfrm>
            <a:off x="680760" y="6356520"/>
            <a:ext cx="2228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>
              <a:defRPr/>
            </a:pPr>
            <a:r>
              <a:rPr lang="ru-RU" sz="1200" b="0" strike="noStrike" spc="-1">
                <a:solidFill>
                  <a:srgbClr val="898989"/>
                </a:solidFill>
                <a:latin typeface="Times New Roman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 bwMode="auto">
          <a:xfrm>
            <a:off x="3281040" y="6356520"/>
            <a:ext cx="3344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>
              <a:defRPr/>
            </a:pPr>
            <a:endParaRPr lang="en-US" sz="2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 bwMode="auto">
          <a:xfrm>
            <a:off x="6997320" y="6356520"/>
            <a:ext cx="2228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r">
              <a:defRPr/>
            </a:pPr>
            <a:fld id="{B6E444D8-1E7C-4601-8BBD-9B880C6142FC}" type="slidenum">
              <a:rPr lang="ru-RU" sz="1200" b="0" strike="noStrike" spc="-1">
                <a:solidFill>
                  <a:srgbClr val="898989"/>
                </a:solidFill>
                <a:latin typeface="Times New Roman"/>
              </a:rPr>
              <a:t/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 bwMode="auto">
          <a:xfrm>
            <a:off x="345960" y="260280"/>
            <a:ext cx="8642520" cy="56167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МИНИСТЕРСТВО НАУКИ И ВЫСШЕГО ОБРАЗОВАНИЯ РОССИЙСКОЙ ФЕДЕРАЦИИ</a:t>
            </a:r>
            <a:endParaRPr lang="en-US" sz="1600" b="0" strike="noStrike" spc="-1">
              <a:solidFill>
                <a:srgbClr val="FFFFFF"/>
              </a:solidFill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МОСКОВСКИЙ ГОСУДАРСТВЕННЫЙ ТЕХНИЧЕСКИЙ УНИВЕРСИТЕТ им. Н.Э.Баумана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КАФЕДРА КОМПЬЮТЕРНЫЕ СИСТЕМЫ И СЕТИ</a:t>
            </a:r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Отчет о выполнении лабораторной работы №2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«Онтология предметной области „Видеокарта“»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по курсу «Прикладные задачи искусственного интеллекта»</a:t>
            </a:r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Выполнили: студенты группы ИУ6-75Б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Шегай П.И., Дергалов Н.О., Каракешишян Д.М.,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Вохрамеев М.В., Карузин И.М.</a:t>
            </a:r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Проверил: д.т.н., профессор, профессор каф. ИУ-6</a:t>
            </a:r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Л.А.Зинченко</a:t>
            </a:r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endParaRPr sz="1600"/>
          </a:p>
          <a:p>
            <a:pPr algn="ctr">
              <a:lnSpc>
                <a:spcPct val="100000"/>
              </a:lnSpc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Москва, 2026 г.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CustomShape 2"/>
          <p:cNvSpPr/>
          <p:nvPr/>
        </p:nvSpPr>
        <p:spPr bwMode="auto">
          <a:xfrm>
            <a:off x="304920" y="990720"/>
            <a:ext cx="8904240" cy="100872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Цель работы: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3192" y="1417320"/>
            <a:ext cx="9116568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lang="ru-RU">
                <a:solidFill>
                  <a:srgbClr val="0F228B"/>
                </a:solidFill>
                <a:latin typeface="Times New Roman"/>
              </a:rPr>
              <a:t>Разработать и проверить в среде Protégé онтологию предметной области «Видеокарта»: описать модели дискретных видеокарт и связанные с ними сущности, автоматически относить модели к определяемым классам и получать ответы на контрольные вопросы об их характеристиках.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4106" y="278892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lang="ru-RU">
                <a:solidFill>
                  <a:srgbClr val="0F228B"/>
                </a:solidFill>
                <a:latin typeface="Times New Roman"/>
              </a:rPr>
              <a:t>Задание: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" y="3291840"/>
            <a:ext cx="9116568" cy="1691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создать описание предметной области «Видеокарта»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построить онтологию в Protégé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проверить её средствами редактора и его плагинов</a:t>
            </a:r>
          </a:p>
          <a:p>
            <a:pPr algn="l"/>
            <a:r>
              <a:rPr sz="1600" b="1" i="0" lang="ru-RU">
                <a:solidFill>
                  <a:srgbClr val="0F228B"/>
                </a:solidFill>
                <a:latin typeface="Times New Roman"/>
              </a:rPr>
              <a:t>Условие допуска: </a:t>
            </a:r>
            <a:r>
              <a:rPr sz="1600" b="0" i="0" lang="ru-RU">
                <a:solidFill>
                  <a:srgbClr val="0F228B"/>
                </a:solidFill>
                <a:latin typeface="Times New Roman"/>
              </a:rPr>
              <a:t>техническое задание не менее чем с одной UML- и одной IDEF5-диаграммой.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" y="5074920"/>
            <a:ext cx="91165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Средства разработки и проверки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" y="5394960"/>
            <a:ext cx="2103120" cy="7772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Protégé Desktop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версия 5.6.9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31008" y="5394960"/>
            <a:ext cx="2103120" cy="7772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OWL 2 DL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RDF/XML, UTF-8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68824" y="5394960"/>
            <a:ext cx="2103120" cy="7772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HermiT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версия 1.4.3.456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5394960"/>
            <a:ext cx="2103120" cy="7772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DL Query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версия 4.0.1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исходные данные и границы области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93192" y="1481328"/>
            <a:ext cx="44622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ТЗ версии 1.4 задаёт состав модели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" y="192024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15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классов, из них 2 определяемых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11096" y="192024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10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объектных свойств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29000" y="192024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7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свойств данных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" y="301752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≥ 8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учебных моделей видеокарт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11096" y="301752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8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контрольных вопросов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3017520"/>
            <a:ext cx="1426464" cy="10058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11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приёмочных испытаний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" y="4297680"/>
            <a:ext cx="4462272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Единица описания —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модель дискретной видеокарты (класс VideoCardModel), а не конкретное устройство.</a:t>
            </a:r>
          </a:p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Данные учебные: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41 индивид вымышлен, учебные модели помечены в rdfs:comment.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74920" y="1508760"/>
            <a:ext cx="4434840" cy="22402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82880" tIns="137160" rIns="18288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В области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дискретные видеокарты ПК на уровне модели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связи: GPU, видеопамять, охлаждение, интерфейс, видеовыходы, производитель, назначение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логический вывод и поиск моделей по признакам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74920" y="3931920"/>
            <a:ext cx="4434840" cy="2240280"/>
          </a:xfrm>
          <a:prstGeom prst="rect">
            <a:avLst/>
          </a:prstGeom>
          <a:noFill/>
          <a:ln w="15875">
            <a:solidFill>
              <a:srgbClr val="0F228B"/>
            </a:solidFill>
          </a:ln>
        </p:spPr>
        <p:txBody>
          <a:bodyPr rtlCol="0" anchor="t" wrap="square" lIns="182880" tIns="137160" rIns="18288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ru-RU">
                <a:solidFill>
                  <a:srgbClr val="0F228B"/>
                </a:solidFill>
                <a:latin typeface="Times New Roman"/>
              </a:rPr>
              <a:t>Вне области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встроенная графика и серверные ускорители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драйверы, ремонт, цены, тесты производительности, рекомендации по покупке</a:t>
            </a:r>
          </a:p>
          <a:p>
            <a:pPr algn="l" marL="182880" indent="-182880">
              <a:buFont typeface="Arial"/>
              <a:buChar char="•"/>
            </a:pP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многопроцессорные карты: модель с двумя GPU по построению противоречива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концептуальная модель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61771" y="1463040"/>
            <a:ext cx="4297679" cy="3877055"/>
          </a:xfrm>
          <a:prstGeom prst="rect">
            <a:avLst/>
          </a:prstGeom>
          <a:noFill/>
          <a:ln w="12700">
            <a:solidFill>
              <a:srgbClr val="C5CBE8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pic>
        <p:nvPicPr>
          <p:cNvPr id="54" name="Picture 53" descr="uml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" y="1508760"/>
            <a:ext cx="4206240" cy="378561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93192" y="5431536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Рисунок 1 — UML-диаграмма классов основного состава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43500" y="1463040"/>
            <a:ext cx="4297679" cy="3877055"/>
          </a:xfrm>
          <a:prstGeom prst="rect">
            <a:avLst/>
          </a:prstGeom>
          <a:noFill/>
          <a:ln w="12700">
            <a:solidFill>
              <a:srgbClr val="C5CBE8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pic>
        <p:nvPicPr>
          <p:cNvPr id="57" name="Picture 56" descr="idef5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508760"/>
            <a:ext cx="4206240" cy="378561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74920" y="5431536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Рисунок 2 — IDEF5-схема отношений предметной области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" y="5852160"/>
            <a:ext cx="91165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Схемы показывают основной состав: 7 из 13 классов и 6 из 10 объектных свойств. Имена и направления отношений совпадают с таблицей 2 ТЗ; типы атрибутов в UML приведены в соответствие с таблицей 3.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классы онтологии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5120640" cy="3154680"/>
          </a:xfrm>
          <a:prstGeom prst="rect">
            <a:avLst/>
          </a:prstGeom>
          <a:solidFill>
            <a:srgbClr val="F3F4FB"/>
          </a:solidFill>
          <a:ln w="12700">
            <a:solidFill>
              <a:srgbClr val="C5CBE8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1261872" y="2240280"/>
            <a:ext cx="1691640" cy="457200"/>
          </a:xfrm>
          <a:prstGeom prst="line">
            <a:avLst/>
          </a:prstGeom>
          <a:ln w="15875">
            <a:solidFill>
              <a:srgbClr val="0F228B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2953512" y="2240280"/>
            <a:ext cx="0" cy="457200"/>
          </a:xfrm>
          <a:prstGeom prst="line">
            <a:avLst/>
          </a:prstGeom>
          <a:ln w="15875">
            <a:solidFill>
              <a:srgbClr val="0F228B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2953512" y="2240280"/>
            <a:ext cx="1691640" cy="457200"/>
          </a:xfrm>
          <a:prstGeom prst="line">
            <a:avLst/>
          </a:prstGeom>
          <a:ln w="15875">
            <a:solidFill>
              <a:srgbClr val="0F228B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>
            <a:off x="2359152" y="3383280"/>
            <a:ext cx="594360" cy="411480"/>
          </a:xfrm>
          <a:prstGeom prst="line">
            <a:avLst/>
          </a:prstGeom>
          <a:ln w="15875">
            <a:solidFill>
              <a:srgbClr val="0F228B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2953512" y="3383280"/>
            <a:ext cx="594360" cy="411480"/>
          </a:xfrm>
          <a:prstGeom prst="line">
            <a:avLst/>
          </a:prstGeom>
          <a:ln w="15875">
            <a:solidFill>
              <a:srgbClr val="0F228B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1856232" y="1691640"/>
            <a:ext cx="2194560" cy="548640"/>
          </a:xfrm>
          <a:prstGeom prst="rect">
            <a:avLst/>
          </a:prstGeom>
          <a:solidFill>
            <a:srgbClr val="0F228B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FFFFFF"/>
                </a:solidFill>
                <a:latin typeface="Times New Roman"/>
              </a:rPr>
              <a:t>Компонент модели</a:t>
            </a:r>
          </a:p>
          <a:p>
            <a:pPr algn="ctr"/>
            <a:r>
              <a:rPr sz="1000" b="0" i="1" lang="ru-RU">
                <a:solidFill>
                  <a:srgbClr val="C5CBE8"/>
                </a:solidFill>
                <a:latin typeface="Times New Roman"/>
              </a:rPr>
              <a:t>ModelComponent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2697480"/>
            <a:ext cx="14630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Модель GPU</a:t>
            </a:r>
          </a:p>
          <a:p>
            <a:pPr algn="ctr"/>
            <a:r>
              <a:rPr sz="1000" b="0" i="1" lang="ru-RU">
                <a:solidFill>
                  <a:srgbClr val="4B5063"/>
                </a:solidFill>
                <a:latin typeface="Times New Roman"/>
              </a:rPr>
              <a:t>GPUModel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21991" y="2697480"/>
            <a:ext cx="14630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Система охлаждения</a:t>
            </a:r>
          </a:p>
          <a:p>
            <a:pPr algn="ctr"/>
            <a:r>
              <a:rPr sz="1000" b="0" i="1" lang="ru-RU">
                <a:solidFill>
                  <a:srgbClr val="4B5063"/>
                </a:solidFill>
                <a:latin typeface="Times New Roman"/>
              </a:rPr>
              <a:t>CoolingSystem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13632" y="2697480"/>
            <a:ext cx="14630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Конфигурация видеопамяти</a:t>
            </a:r>
          </a:p>
          <a:p>
            <a:pPr algn="ctr"/>
            <a:r>
              <a:rPr sz="1000" b="0" i="1" lang="ru-RU">
                <a:solidFill>
                  <a:srgbClr val="4B5063"/>
                </a:solidFill>
                <a:latin typeface="Times New Roman"/>
              </a:rPr>
              <a:t>MemoryConfiguration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10512" y="3794760"/>
            <a:ext cx="10972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Активное охлаждение</a:t>
            </a:r>
          </a:p>
          <a:p>
            <a:pPr algn="ctr"/>
            <a:r>
              <a:rPr sz="1000" b="0" i="1" lang="ru-RU">
                <a:solidFill>
                  <a:srgbClr val="4B5063"/>
                </a:solidFill>
                <a:latin typeface="Times New Roman"/>
              </a:rPr>
              <a:t>ActiveCooling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9232" y="3794760"/>
            <a:ext cx="10972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28B"/>
            </a:solidFill>
          </a:ln>
        </p:spPr>
        <p:txBody>
          <a:bodyPr rtlCol="0" anchor="ctr" wrap="square" lIns="36576" tIns="27432" rIns="36576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Пассивное охлаждение</a:t>
            </a:r>
          </a:p>
          <a:p>
            <a:pPr algn="ctr"/>
            <a:r>
              <a:rPr sz="1000" b="0" i="1" lang="ru-RU">
                <a:solidFill>
                  <a:srgbClr val="4B5063"/>
                </a:solidFill>
                <a:latin typeface="Times New Roman"/>
              </a:rPr>
              <a:t>PassiveCooling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150876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Остальные корневые классы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15000" y="1901952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Модель видеокарты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VideoCardModel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15000" y="2304288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Производитель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Manufacturer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0" y="2706624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Интерфейс подключения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ConnectionInterface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15000" y="3108960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Видеовыход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VideoOutput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15000" y="3511296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Тип памяти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MemoryType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15000" y="3913632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Архитектура GPU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GPUArchitecture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4315968"/>
            <a:ext cx="3794760" cy="34747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09728" tIns="18288" bIns="18288">
            <a:noAutofit/>
          </a:bodyPr>
          <a:lstStyle/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Назначение</a:t>
            </a:r>
            <a:r>
              <a:rPr sz="1000" b="0" i="1" lang="ru-RU">
                <a:solidFill>
                  <a:srgbClr val="4B5063"/>
                </a:solidFill>
                <a:latin typeface="Times New Roman"/>
              </a:rPr>
              <a:t>   Purpose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3192" y="4846320"/>
            <a:ext cx="4434840" cy="868680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FFFFFF"/>
                </a:solidFill>
                <a:latin typeface="Times New Roman"/>
              </a:rPr>
              <a:t>Карта с памятью от 8 ГиБ</a:t>
            </a:r>
          </a:p>
          <a:p>
            <a:pPr algn="l"/>
            <a:r>
              <a:rPr sz="1200" b="0" i="1" lang="ru-RU">
                <a:solidFill>
                  <a:srgbClr val="C5CBE8"/>
                </a:solidFill>
                <a:latin typeface="Times New Roman"/>
              </a:rPr>
              <a:t>CardWith8GBMemory</a:t>
            </a:r>
            <a:r>
              <a:rPr sz="1200" b="0" i="0" lang="ru-RU">
                <a:solidFill>
                  <a:srgbClr val="C5CBE8"/>
                </a:solidFill>
                <a:latin typeface="Times New Roman"/>
              </a:rPr>
              <a:t>  ·  определяемый класс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4846320"/>
            <a:ext cx="4434840" cy="868680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 lang="ru-RU">
                <a:solidFill>
                  <a:srgbClr val="FFFFFF"/>
                </a:solidFill>
                <a:latin typeface="Times New Roman"/>
              </a:rPr>
              <a:t>Карта с активным охлаждением</a:t>
            </a:r>
          </a:p>
          <a:p>
            <a:pPr algn="l"/>
            <a:r>
              <a:rPr sz="1200" b="0" i="1" lang="ru-RU">
                <a:solidFill>
                  <a:srgbClr val="C5CBE8"/>
                </a:solidFill>
                <a:latin typeface="Times New Roman"/>
              </a:rPr>
              <a:t>CardWithActiveCooling</a:t>
            </a:r>
            <a:r>
              <a:rPr sz="1200" b="0" i="0" lang="ru-RU">
                <a:solidFill>
                  <a:srgbClr val="C5CBE8"/>
                </a:solidFill>
                <a:latin typeface="Times New Roman"/>
              </a:rPr>
              <a:t>  ·  определяемый класс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" y="5870448"/>
            <a:ext cx="911656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15 классов: 13 обязательных и 2 определяемых. Непересекаемость задана 32 парами DisjointClasses (28 + 3 + 1); членов определяемых классов выводит reasoner.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свойства и ограничения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2926080" cy="960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10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объектных свойств: для каждого заданы domain и range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88436" y="1508760"/>
            <a:ext cx="2926080" cy="960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7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свойств данных; 6 из них функциональные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1508760"/>
            <a:ext cx="2926080" cy="960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600" b="1" i="0" lang="ru-RU">
                <a:solidFill>
                  <a:srgbClr val="0F228B"/>
                </a:solidFill>
                <a:latin typeface="Times New Roman"/>
              </a:rPr>
              <a:t>11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ограничений на класс «Модель видеокарты»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Свойства данных и единицы измерения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93192" y="2999232"/>
          <a:ext cx="539496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103120"/>
                <a:gridCol w="73152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Свойство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Тип XSD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Ед.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Функц.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name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volumeGiB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positiveInteger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ГиБ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busWidthBit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positiveInteger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бит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frequencyMHz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decimal, &gt; 0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МГц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powerW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decimal, &gt; 0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Вт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lengthMM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decimal, &gt; 0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мм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fanCount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nonNegativeInteger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шт.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Rectangle 57"/>
          <p:cNvSpPr/>
          <p:nvPr/>
        </p:nvSpPr>
        <p:spPr>
          <a:xfrm>
            <a:off x="5989320" y="2651760"/>
            <a:ext cx="3520440" cy="3273552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82880" tIns="137160" rIns="18288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Ограничения VideoCardModel</a:t>
            </a:r>
          </a:p>
          <a:p>
            <a:pPr algn="l">
              <a:spcAft>
                <a:spcPts val="200"/>
              </a:spcAft>
            </a:pPr>
            <a:r>
              <a:rPr sz="1300" b="1" i="0" lang="ru-RU">
                <a:solidFill>
                  <a:srgbClr val="0F228B"/>
                </a:solidFill>
                <a:latin typeface="Times New Roman"/>
              </a:rPr>
              <a:t>exactly 1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 — ровно одно значение:</a:t>
            </a:r>
          </a:p>
          <a:p>
            <a:pPr algn="l">
              <a:spcAft>
                <a:spcPts val="800"/>
              </a:spcAft>
            </a:pPr>
            <a:r>
              <a:rPr sz="1100" b="0" i="0" lang="ru-RU">
                <a:solidFill>
                  <a:srgbClr val="0F228B"/>
                </a:solidFill>
                <a:latin typeface="Courier New"/>
              </a:rPr>
              <a:t>usesGPU, hasMemory, hasCooling, hasInterface, producedByManufacturer</a:t>
            </a:r>
          </a:p>
          <a:p>
            <a:pPr algn="l">
              <a:spcAft>
                <a:spcPts val="200"/>
              </a:spcAft>
            </a:pPr>
            <a:r>
              <a:rPr sz="1300" b="1" i="0" lang="ru-RU">
                <a:solidFill>
                  <a:srgbClr val="0F228B"/>
                </a:solidFill>
                <a:latin typeface="Times New Roman"/>
              </a:rPr>
              <a:t>min 1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 — не менее одного:</a:t>
            </a:r>
          </a:p>
          <a:p>
            <a:pPr algn="l">
              <a:spcAft>
                <a:spcPts val="800"/>
              </a:spcAft>
            </a:pPr>
            <a:r>
              <a:rPr sz="1100" b="0" i="0" lang="ru-RU">
                <a:solidFill>
                  <a:srgbClr val="0F228B"/>
                </a:solidFill>
                <a:latin typeface="Courier New"/>
              </a:rPr>
              <a:t>hasVideoOutput</a:t>
            </a:r>
          </a:p>
          <a:p>
            <a:pPr algn="l">
              <a:spcAft>
                <a:spcPts val="1000"/>
              </a:spcAft>
            </a:pPr>
            <a:r>
              <a:rPr sz="1300" b="1" i="0" lang="ru-RU">
                <a:solidFill>
                  <a:srgbClr val="0F228B"/>
                </a:solidFill>
                <a:latin typeface="Times New Roman"/>
              </a:rPr>
              <a:t>only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 — значения только из класса-диапазона для тех же пяти свойств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Область определения name — объединение 8 классов, заданное одной аксиомой.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учебный набор данных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93192" y="1508760"/>
          <a:ext cx="911656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554480"/>
                <a:gridCol w="1828800"/>
                <a:gridCol w="640080"/>
                <a:gridCol w="1554480"/>
                <a:gridCol w="1920240"/>
                <a:gridCol w="84124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Модель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Память, ГиБ / тип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Охлаждение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GPU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Интерфейс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Видеовыходы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Произв.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 / GDDR5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пассивное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3.0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HDMI, VGA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8 /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активное, 2 вент.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4.0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DisplayPort,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12 /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активное, 2 вент.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4.0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DisplayPort,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16 /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активное, 3 вент.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4.0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DisplayPort,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6 /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активное, 2 вент.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3.0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DVI,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8 /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пассивное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3.0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DVI,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24 / GDDR6X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активное, 3 вент.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5.0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DisplayPort, HDMI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2 / GDDR5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пассивное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G1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PCIe 3.0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DVI, VGA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393192" y="5029200"/>
            <a:ext cx="9116568" cy="77724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82880" rIns="182880">
            <a:noAutofit/>
          </a:bodyPr>
          <a:lstStyle/>
          <a:p>
            <a:pPr algn="l"/>
            <a:r>
              <a:rPr sz="1300" b="1" i="0" lang="ru-RU">
                <a:solidFill>
                  <a:srgbClr val="0F228B"/>
                </a:solidFill>
                <a:latin typeface="Times New Roman"/>
              </a:rPr>
              <a:t>41 индивид: 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8 моделей · 5 GPU · 7 конфигураций памяти · 3 системы охлаждения · 3 интерфейса · 4 видеовыхода · 3 типа памяти · 3 архитектуры · 2 производителя · 3 назначения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" y="5943600"/>
            <a:ext cx="91165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Данные условные: модели U01–U08 помечены «учебная модель»; все 41 индивид объявлены различными аксиомой DifferentIndividuals (открытый мир).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Выполнение: определяемые классы и логический вывод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4114800" cy="128016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37160" t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Карта с памятью от 8 ГиБ</a:t>
            </a:r>
          </a:p>
          <a:p>
            <a:pPr algn="l"/>
            <a:r>
              <a:rPr sz="1100" b="0" i="0" lang="ru-RU">
                <a:solidFill>
                  <a:srgbClr val="0F228B"/>
                </a:solidFill>
                <a:latin typeface="Courier New"/>
              </a:rPr>
              <a:t>VideoCardModel and hasMemory some (volumeGiB some xsd:integer[&gt;= 8])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" y="2926080"/>
            <a:ext cx="4114800" cy="114300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37160" t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Карта с активным охлаждением</a:t>
            </a:r>
          </a:p>
          <a:p>
            <a:pPr algn="l"/>
            <a:r>
              <a:rPr sz="1100" b="0" i="0" lang="ru-RU">
                <a:solidFill>
                  <a:srgbClr val="0F228B"/>
                </a:solidFill>
                <a:latin typeface="Courier New"/>
              </a:rPr>
              <a:t>VideoCardModel and hasCooling some ActiveCooling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" y="4251960"/>
            <a:ext cx="41148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300" b="0" i="0" lang="ru-RU">
                <a:solidFill>
                  <a:srgbClr val="0F228B"/>
                </a:solidFill>
                <a:latin typeface="Times New Roman"/>
              </a:rPr>
              <a:t>До запуска reasoner у моделей записан только тип VideoCardModel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300" b="0" i="0" lang="ru-RU">
                <a:solidFill>
                  <a:srgbClr val="0F228B"/>
                </a:solidFill>
                <a:latin typeface="Times New Roman"/>
              </a:rPr>
              <a:t>HermiT: онтология согласована, все классы выполнимы (T04)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 lang="ru-RU">
                <a:solidFill>
                  <a:srgbClr val="0F228B"/>
                </a:solidFill>
                <a:latin typeface="Times New Roman"/>
              </a:rPr>
              <a:t>Принадлежность классам выведена автоматически: явных ClassAssertion в файле нет</a:t>
            </a:r>
          </a:p>
        </p:txBody>
      </p:sp>
      <p:sp>
        <p:nvSpPr>
          <p:cNvPr id="56" name="Oval 55"/>
          <p:cNvSpPr/>
          <p:nvPr/>
        </p:nvSpPr>
        <p:spPr>
          <a:xfrm>
            <a:off x="4709160" y="1920240"/>
            <a:ext cx="3154680" cy="2926080"/>
          </a:xfrm>
          <a:prstGeom prst="ellipse">
            <a:avLst/>
          </a:prstGeom>
          <a:solidFill>
            <a:srgbClr val="0F228B">
              <a:alpha val="22000"/>
            </a:srgbClr>
          </a:solidFill>
          <a:ln w="19050">
            <a:solidFill>
              <a:srgbClr val="0F228B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55080" y="1920240"/>
            <a:ext cx="3154680" cy="2926080"/>
          </a:xfrm>
          <a:prstGeom prst="ellipse">
            <a:avLst/>
          </a:prstGeom>
          <a:solidFill>
            <a:srgbClr val="5666B8">
              <a:alpha val="22000"/>
            </a:srgbClr>
          </a:solidFill>
          <a:ln w="19050">
            <a:solidFill>
              <a:srgbClr val="0F228B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9160" y="1508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Память ≥ 8 ГиБ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15087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Активное охлаждение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3218688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66760" y="3218688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78524" y="2999232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46036" y="2999232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78524" y="3438144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46036" y="3438144"/>
            <a:ext cx="59436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Times New Roman"/>
              </a:rPr>
              <a:t>U07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5029200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 lang="ru-RU">
                <a:solidFill>
                  <a:srgbClr val="0F228B"/>
                </a:solidFill>
                <a:latin typeface="Times New Roman"/>
              </a:rPr>
              <a:t>Оба класса: 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U02, U03, U04, U07</a:t>
            </a:r>
          </a:p>
          <a:p>
            <a:pPr algn="l">
              <a:spcAft>
                <a:spcPts val="300"/>
              </a:spcAft>
            </a:pPr>
            <a:r>
              <a:rPr sz="1300" b="1" i="0" lang="ru-RU">
                <a:solidFill>
                  <a:srgbClr val="0F228B"/>
                </a:solidFill>
                <a:latin typeface="Times New Roman"/>
              </a:rPr>
              <a:t>Только память ≥ 8 ГиБ: 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U06;  </a:t>
            </a:r>
            <a:r>
              <a:rPr sz="1300" b="1" i="0" lang="ru-RU">
                <a:solidFill>
                  <a:srgbClr val="0F228B"/>
                </a:solidFill>
                <a:latin typeface="Times New Roman"/>
              </a:rPr>
              <a:t>только активное охлаждение: 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U05</a:t>
            </a:r>
          </a:p>
          <a:p>
            <a:pPr algn="l"/>
            <a:r>
              <a:rPr sz="1300" b="1" i="0" lang="ru-RU">
                <a:solidFill>
                  <a:srgbClr val="0F228B"/>
                </a:solidFill>
                <a:latin typeface="Times New Roman"/>
              </a:rPr>
              <a:t>Ни один класс: </a:t>
            </a:r>
            <a:r>
              <a:rPr sz="1300" b="0" i="0" lang="ru-RU">
                <a:solidFill>
                  <a:srgbClr val="0F228B"/>
                </a:solidFill>
                <a:latin typeface="Times New Roman"/>
              </a:rPr>
              <a:t>U01, U08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Результаты: контрольные запросы DL Query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93192" y="1508760"/>
          <a:ext cx="9116568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"/>
                <a:gridCol w="2148840"/>
                <a:gridCol w="3840480"/>
                <a:gridCol w="2103120"/>
                <a:gridCol w="65836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№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Вопрос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Выражение DL Query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Ожидаемый результат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Факт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Модели производителя 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VideoCardModel and producedByManufacturer value P1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U01, U02, U05, U08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Модели с GPU G2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VideoCardModel and usesGPU value GPU_G2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Память не менее 8 ГиБ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CardWith8GBMemory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U03, U04, U06, U07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Тип памяти GDDR6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VideoCardModel and hasMemory some (hasMemoryType value GDDR6)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U03, U04, U05, U06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Активное охлаждение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CardWithActiveCooling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U03, U04, U05, U07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Видеовыход DisplayPort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VideoCardModel and hasVideoOutput value DisplayPort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U03, U04, U07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Интерфейс PCIe 3.0 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VideoCardModel and hasInterface value PCIe_3_0_x16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U01, U05, U06, U08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Память ≥ 8 ГиБ и активное охлаждение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ru-RU">
                          <a:solidFill>
                            <a:srgbClr val="0F228B"/>
                          </a:solidFill>
                          <a:latin typeface="Courier New"/>
                        </a:rPr>
                        <a:t>CardWith8GBMemory and CardWithActiveCooling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U02, U03, U04, U07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совпал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93192" y="5669280"/>
            <a:ext cx="911656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Запросы выполнены после классификации HermiT; сравнение — точное равенство множеств. Для каждого вопроса проверены положительный и отрицательный примеры (T05: 39 из 39 проверок). Эталоны вопросов 3, 5, 8 заданы ТЗ, остальные зафиксированы тестировщиком до запуска.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Результаты: обнаружение ошибок (T06–T09)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4434840" cy="2103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57784" y="1673351"/>
            <a:ext cx="64008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Times New Roman"/>
              </a:rPr>
              <a:t>T06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1673351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Непересекающиеся классы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" y="2148839"/>
            <a:ext cx="40690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Изменение в копии: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один индивид отнесён к ActiveCooling и PassiveCooling.</a:t>
            </a:r>
          </a:p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Реакция: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несогласованность — нарушена непересекаемость классов.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1508760"/>
            <a:ext cx="4434840" cy="2103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239512" y="1673351"/>
            <a:ext cx="64008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Times New Roman"/>
              </a:rPr>
              <a:t>T07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7608" y="1673351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Два GPU у одной карты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2148839"/>
            <a:ext cx="40690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Изменение в копии: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модели добавлен второй GPU, объявленный отличным от первого.</a:t>
            </a:r>
          </a:p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Реакция: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несогласованность — нарушено ограничение usesGPU exactly 1.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192" y="3749039"/>
            <a:ext cx="4434840" cy="210312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57784" y="3913631"/>
            <a:ext cx="64008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Times New Roman"/>
              </a:rPr>
              <a:t>T08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5880" y="3913631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Недопустимое значение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" y="4389120"/>
            <a:ext cx="40690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Изменение в копии: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объёму памяти задано значение −4.</a:t>
            </a:r>
          </a:p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Реакция: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несогласованность — значение вне диапазона xsd:positiveInteger.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74920" y="3749039"/>
            <a:ext cx="4434840" cy="2103120"/>
          </a:xfrm>
          <a:prstGeom prst="rect">
            <a:avLst/>
          </a:prstGeom>
          <a:noFill/>
          <a:ln w="19050">
            <a:solidFill>
              <a:srgbClr val="0F228B"/>
            </a:solidFill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239512" y="3913631"/>
            <a:ext cx="640080" cy="329184"/>
          </a:xfrm>
          <a:prstGeom prst="roundRect">
            <a:avLst>
              <a:gd name="adj" fmla="val 30000"/>
            </a:avLst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Times New Roman"/>
              </a:rPr>
              <a:t>T09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07608" y="3913631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Пропуск обязательной связи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4389120"/>
            <a:ext cx="40690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Изменение в копии: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у модели U02 удалена связь hasMemory.</a:t>
            </a:r>
          </a:p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Реакция: </a:t>
            </a:r>
            <a:r>
              <a:rPr sz="1400" b="0" i="0" lang="ru-RU">
                <a:solidFill>
                  <a:srgbClr val="0F228B"/>
                </a:solidFill>
                <a:latin typeface="Times New Roman"/>
              </a:rPr>
              <a:t>онтология остаётся согласованной (открытый мир), U02 перестала выводиться в CardWith8GBMemory; пропуск выявлен карточкой полноты.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192" y="6035040"/>
            <a:ext cx="91165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Дефекты есть только в копиях tests/negative/; после каждой проверки изменение отменялось, финальный videocard.owl не менялся.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Результаты: приёмочные испытания T01–T11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481328"/>
            <a:ext cx="2103120" cy="82296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200" b="1" i="0" lang="ru-RU">
                <a:solidFill>
                  <a:srgbClr val="0F228B"/>
                </a:solidFill>
                <a:latin typeface="Times New Roman"/>
              </a:rPr>
              <a:t>11 из 11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групп испытаний пройдено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31008" y="1481328"/>
            <a:ext cx="2103120" cy="82296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200" b="1" i="0" lang="ru-RU">
                <a:solidFill>
                  <a:srgbClr val="0F228B"/>
                </a:solidFill>
                <a:latin typeface="Times New Roman"/>
              </a:rPr>
              <a:t>472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аксиомы, из них 253 логические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68824" y="1481328"/>
            <a:ext cx="2103120" cy="82296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200" b="1" i="0" lang="ru-RU">
                <a:solidFill>
                  <a:srgbClr val="0F228B"/>
                </a:solidFill>
                <a:latin typeface="Times New Roman"/>
              </a:rPr>
              <a:t>0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нарушений OWL 2 DL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1481328"/>
            <a:ext cx="2103120" cy="82296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200" b="1" i="0" lang="ru-RU">
                <a:solidFill>
                  <a:srgbClr val="0F228B"/>
                </a:solidFill>
                <a:latin typeface="Times New Roman"/>
              </a:rPr>
              <a:t>0</a:t>
            </a:r>
          </a:p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дефектов финальной онтологии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93192" y="2423160"/>
          <a:ext cx="911656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94360"/>
                <a:gridCol w="4754880"/>
                <a:gridCol w="2103120"/>
                <a:gridCol w="1664208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Тест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Проверка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Пункты ТЗ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Результат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Описание области, словарь, диаграммы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4.1.1–4.1.4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 *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T02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Состав сущностей, типы, аннотации, OWL 2 DL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4.2.1–4.2.4; 4.4.1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Карточки полноты моделей U01–U08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4.2.5; 4.4.4–4.4.5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Согласованность и выполнимость классов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4.4.2; 4.4.6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Восемь контрольных запросов DL Query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4.3; 4.4.3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Пройден, 8 из 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Несовместимое охлаждение в копии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4.4.2; 4.4.6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Дефект обнаружен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Два GPU у одной карты в копии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4.4.4; 4.4.7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Дефект обнаружен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T08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Недопустимый объём памяти в копии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4.2.3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Дефект обнаружен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T09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Пропуск обязательной связи в копии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4.4.5; 4.4.7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Пропуск выявлен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T10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Сохранение, повторное открытие, повтор T04/T05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4.5.1; 4.5.3; 4.6.3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T11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Состав поставки, версии среды, README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4.5.2; 4.6.1–4.6.4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Пройден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393192" y="6080760"/>
            <a:ext cx="91165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 lang="ru-RU">
                <a:solidFill>
                  <a:srgbClr val="4B5063"/>
                </a:solidFill>
                <a:latin typeface="Times New Roman"/>
              </a:rPr>
              <a:t>* с замечаниями к диаграммам. Прогон в Protégé 5.6.9 — 10.10.2026; автоматический прогон (OWL API 4.5.29, HermiT 1.4.3.456, Java 17) — 06.10.2026.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Результаты: замечания по итогам испытаний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4434840" cy="20116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6072" y="1691639"/>
            <a:ext cx="411480" cy="411480"/>
          </a:xfrm>
          <a:prstGeom prst="ellipse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1691639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Диаграммы неполные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" y="2258568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lang="ru-RU">
                <a:solidFill>
                  <a:srgbClr val="0F228B"/>
                </a:solidFill>
                <a:latin typeface="Times New Roman"/>
              </a:rPr>
              <a:t>Рис. 1 и 2 показывают 7 из 13 классов и 6 из 10 объектных свойств («основной состав»). Противоречий в названиях, направлениях и кратностях нет.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1508760"/>
            <a:ext cx="4434840" cy="20116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57800" y="1691639"/>
            <a:ext cx="411480" cy="411480"/>
          </a:xfrm>
          <a:prstGeom prst="ellipse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24728" y="1691639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Типы чисел на UML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2258568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lang="ru-RU">
                <a:solidFill>
                  <a:srgbClr val="0F228B"/>
                </a:solidFill>
                <a:latin typeface="Times New Roman"/>
              </a:rPr>
              <a:t>В ТЗ на рис. 1 указаны int и integer, а таблица 3 требует positiveInteger и nonNegativeInteger. Реализовано по таблице 3; в исходнике draw.io подписи исправлены.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192" y="3657600"/>
            <a:ext cx="4434840" cy="20116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76072" y="3840480"/>
            <a:ext cx="411480" cy="411480"/>
          </a:xfrm>
          <a:prstGeom prst="ellipse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384048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Эталоны вопросов 2, 6,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" y="4407408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lang="ru-RU">
                <a:solidFill>
                  <a:srgbClr val="0F228B"/>
                </a:solidFill>
                <a:latin typeface="Times New Roman"/>
              </a:rPr>
              <a:t>ТЗ их не задаёт. Тестировщик зафиксировал эталоны по учебному набору до запуска reasoner (tests/expected.json).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74920" y="3657600"/>
            <a:ext cx="4434840" cy="20116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09728" tIns="73152" rIns="109728" bIns="73152">
            <a:noAutofit/>
          </a:bodyPr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57800" y="3840480"/>
            <a:ext cx="411480" cy="411480"/>
          </a:xfrm>
          <a:prstGeom prst="ellipse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24728" y="384048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Источники сведений (п. 4.1.4)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4407408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lang="ru-RU">
                <a:solidFill>
                  <a:srgbClr val="0F228B"/>
                </a:solidFill>
                <a:latin typeface="Times New Roman"/>
              </a:rPr>
              <a:t>Все значения вымышлены, поэтому источников и дат обращения нет; отступление принято решением заказчика.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192" y="5943600"/>
            <a:ext cx="91165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lang="ru-RU">
                <a:solidFill>
                  <a:srgbClr val="0F228B"/>
                </a:solidFill>
                <a:latin typeface="Times New Roman"/>
              </a:rPr>
              <a:t>Дефектов финальной онтологии испытаниями T01–T11 не выявлено: замечания относятся к ТЗ и диаграммам.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CustomShape 2"/>
          <p:cNvSpPr/>
          <p:nvPr/>
        </p:nvSpPr>
        <p:spPr bwMode="auto">
          <a:xfrm>
            <a:off x="272880" y="981000"/>
            <a:ext cx="890460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Результаты: комплект сдачи и команда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93192" y="1508760"/>
            <a:ext cx="1417320" cy="841248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Courier New"/>
              </a:rPr>
              <a:t>ontology/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10512" y="1508760"/>
            <a:ext cx="3154680" cy="841248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/>
            <a:r>
              <a:rPr sz="1250" b="0" i="0" lang="ru-RU">
                <a:solidFill>
                  <a:srgbClr val="0F228B"/>
                </a:solidFill>
                <a:latin typeface="Times New Roman"/>
              </a:rPr>
              <a:t>videocard.owl (OWL 2 DL, RDF/XML, 64 769 байт) и генератор на Python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" y="2468880"/>
            <a:ext cx="1417320" cy="841248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Courier New"/>
              </a:rPr>
              <a:t>docs/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2468880"/>
            <a:ext cx="3154680" cy="841248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/>
            <a:r>
              <a:rPr sz="1250" b="0" i="0" lang="ru-RU">
                <a:solidFill>
                  <a:srgbClr val="0F228B"/>
                </a:solidFill>
                <a:latin typeface="Times New Roman"/>
              </a:rPr>
              <a:t>ТЗ, описание области и онтологии, руководство, отчёт, диаграммы UML и IDEF5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" y="3429000"/>
            <a:ext cx="1417320" cy="841248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Courier New"/>
              </a:rPr>
              <a:t>tests/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0512" y="3429000"/>
            <a:ext cx="3154680" cy="841248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/>
            <a:r>
              <a:rPr sz="1250" b="0" i="0" lang="ru-RU">
                <a:solidFill>
                  <a:srgbClr val="0F228B"/>
                </a:solidFill>
                <a:latin typeface="Times New Roman"/>
              </a:rPr>
              <a:t>протокол испытаний, Java-оснастка (OWL API + HermiT), эталоны, журналы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" y="4389120"/>
            <a:ext cx="1417320" cy="841248"/>
          </a:xfrm>
          <a:prstGeom prst="rect">
            <a:avLst/>
          </a:prstGeom>
          <a:solidFill>
            <a:srgbClr val="0F228B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/>
            <a:r>
              <a:rPr sz="1300" b="1" i="0" lang="ru-RU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10512" y="4389120"/>
            <a:ext cx="3154680" cy="841248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>
            <a:noAutofit/>
          </a:bodyPr>
          <a:lstStyle/>
          <a:p>
            <a:pPr algn="l"/>
            <a:r>
              <a:rPr sz="1250" b="0" i="0" lang="ru-RU">
                <a:solidFill>
                  <a:srgbClr val="0F228B"/>
                </a:solidFill>
                <a:latin typeface="Times New Roman"/>
              </a:rPr>
              <a:t>запуск в Protégé, ожидаемые результаты, контрольная сумма SHA-256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" y="54406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Контроль целостности: SHA-256 файла videocard.owl совпал с указанным в README (d8ac600a…ae3661).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0680" y="1481328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lang="ru-RU">
                <a:solidFill>
                  <a:srgbClr val="0F228B"/>
                </a:solidFill>
                <a:latin typeface="Times New Roman"/>
              </a:rPr>
              <a:t>Команда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440680" y="1828800"/>
          <a:ext cx="4069080" cy="25237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9659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Роль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FFFFFF"/>
                          </a:solidFill>
                          <a:latin typeface="Times New Roman"/>
                        </a:rPr>
                        <a:t>Участник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0F228B"/>
                      </a:solidFill>
                    </a:lnB>
                    <a:solidFill>
                      <a:srgbClr val="0F228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Руководитель команды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Шегай П. И.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Системный аналитик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Карузин И. М.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Вохрамеев М. В.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Каракешишян Д. М.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solidFill>
                      <a:srgbClr val="F3F4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Технический писатель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lang="ru-RU">
                          <a:solidFill>
                            <a:srgbClr val="0F228B"/>
                          </a:solidFill>
                          <a:latin typeface="Times New Roman"/>
                        </a:rPr>
                        <a:t>Дергалов Н. О.</a:t>
                      </a:r>
                    </a:p>
                  </a:txBody>
                  <a:tcPr marL="64008" marR="64008" marT="27432" marB="27432" anchor="ctr">
                    <a:lnB w="6350">
                      <a:solidFill>
                        <a:srgbClr val="C5CB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5440680" y="4572000"/>
            <a:ext cx="4069080" cy="160020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t" wrap="square" lIns="164592" tIns="109728" rIns="109728" b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i="0" lang="ru-RU">
                <a:solidFill>
                  <a:srgbClr val="0F228B"/>
                </a:solidFill>
                <a:latin typeface="Times New Roman"/>
              </a:rPr>
              <a:t>Воспроизведение</a:t>
            </a:r>
          </a:p>
          <a:p>
            <a:pPr algn="l">
              <a:spcAft>
                <a:spcPts val="30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Protégé: </a:t>
            </a:r>
            <a:r>
              <a:rPr sz="1200" b="0" i="0" lang="ru-RU">
                <a:solidFill>
                  <a:srgbClr val="0F228B"/>
                </a:solidFill>
                <a:latin typeface="Times New Roman"/>
              </a:rPr>
              <a:t>File → Open, Reasoner → HermiT, вкладка DL Query</a:t>
            </a:r>
          </a:p>
          <a:p>
            <a:pPr algn="l">
              <a:spcAft>
                <a:spcPts val="300"/>
              </a:spcAft>
            </a:pPr>
            <a:r>
              <a:rPr sz="1200" b="1" i="0" lang="ru-RU">
                <a:solidFill>
                  <a:srgbClr val="0F228B"/>
                </a:solidFill>
                <a:latin typeface="Times New Roman"/>
              </a:rPr>
              <a:t>Без Protégé: </a:t>
            </a:r>
            <a:r>
              <a:rPr sz="1100" b="0" i="0" lang="ru-RU">
                <a:solidFill>
                  <a:srgbClr val="0F228B"/>
                </a:solidFill>
                <a:latin typeface="Courier New"/>
              </a:rPr>
              <a:t>bash tests/run_tests.sh</a:t>
            </a:r>
          </a:p>
          <a:p>
            <a:pPr algn="l"/>
            <a:r>
              <a:rPr sz="1200" b="1" i="0" lang="ru-RU">
                <a:solidFill>
                  <a:srgbClr val="0F228B"/>
                </a:solidFill>
                <a:latin typeface="Times New Roman"/>
              </a:rPr>
              <a:t>Пересборка: </a:t>
            </a:r>
            <a:r>
              <a:rPr sz="1100" b="0" i="0" lang="ru-RU">
                <a:solidFill>
                  <a:srgbClr val="0F228B"/>
                </a:solidFill>
                <a:latin typeface="Courier New"/>
              </a:rPr>
              <a:t>bash ontology/src/build.sh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 bwMode="auto">
          <a:xfrm>
            <a:off x="533520" y="304920"/>
            <a:ext cx="8534160" cy="309958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«</a:t>
            </a:r>
            <a:r>
              <a:rPr lang="ru-RU" sz="1400" b="0" strike="noStrike" spc="-1">
                <a:solidFill>
                  <a:srgbClr val="0F228B"/>
                </a:solidFill>
                <a:latin typeface="Times New Roman"/>
              </a:rPr>
              <a:t>Онтология предметной области „Видеокарта“</a:t>
            </a:r>
            <a:r>
              <a:rPr lang="en-GB" sz="1400" b="0" strike="noStrike" spc="-1">
                <a:solidFill>
                  <a:srgbClr val="0F228B"/>
                </a:solidFill>
                <a:latin typeface="Times New Roman"/>
              </a:rPr>
              <a:t>»</a:t>
            </a:r>
            <a:endParaRPr lang="en-US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CustomShape 2"/>
          <p:cNvSpPr/>
          <p:nvPr/>
        </p:nvSpPr>
        <p:spPr bwMode="auto">
          <a:xfrm>
            <a:off x="304920" y="990720"/>
            <a:ext cx="8904240" cy="703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GB" sz="2000" b="1" strike="noStrike" spc="-1">
                <a:solidFill>
                  <a:srgbClr val="0F228B"/>
                </a:solidFill>
                <a:latin typeface="Times New Roman"/>
              </a:rPr>
              <a:t>Выводы:</a:t>
            </a:r>
            <a:endParaRPr lang="en-US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93192" y="1508760"/>
            <a:ext cx="9116568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9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Разработана онтология VideoCardOntology v1.0.0 (OWL 2 DL): 15 классов, 10 объектных свойств, 7 свойств данных, 41 индивид, 472 аксиомы.</a:t>
            </a:r>
          </a:p>
          <a:p>
            <a:pPr algn="l" marL="228600" indent="-228600">
              <a:spcAft>
                <a:spcPts val="9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Reasoner HermiT автоматически относит модели к определяемым классам; все 8 контрольных запросов вернули эталонные наборы.</a:t>
            </a:r>
          </a:p>
          <a:p>
            <a:pPr algn="l" marL="228600" indent="-228600">
              <a:spcAft>
                <a:spcPts val="900"/>
              </a:spcAft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Испытания T06–T08 выявили противоречия, а T09 показал, что при открытом мире пропуск связи reasoner не фиксирует — его находит карточка полноты.</a:t>
            </a:r>
          </a:p>
          <a:p>
            <a:pPr algn="l" marL="228600" indent="-228600">
              <a:buFont typeface="Arial"/>
              <a:buChar char="•"/>
            </a:pPr>
            <a:r>
              <a:rPr sz="1600" b="0" i="0" lang="ru-RU">
                <a:solidFill>
                  <a:srgbClr val="0F228B"/>
                </a:solidFill>
                <a:latin typeface="Times New Roman"/>
              </a:rPr>
              <a:t>Испытания T01–T11 пройдены, дефектов финальной онтологии нет; замечания относятся к ТЗ и неполноте диаграмм.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" y="4663440"/>
            <a:ext cx="2103120" cy="10972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800" b="1" i="0" lang="ru-RU">
                <a:solidFill>
                  <a:srgbClr val="0F228B"/>
                </a:solidFill>
                <a:latin typeface="Times New Roman"/>
              </a:rPr>
              <a:t>15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классов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31008" y="4663440"/>
            <a:ext cx="2103120" cy="10972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800" b="1" i="0" lang="ru-RU">
                <a:solidFill>
                  <a:srgbClr val="0F228B"/>
                </a:solidFill>
                <a:latin typeface="Times New Roman"/>
              </a:rPr>
              <a:t>17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свойств: 10 объектных и 7 данных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68824" y="4663440"/>
            <a:ext cx="2103120" cy="10972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800" b="1" i="0" lang="ru-RU">
                <a:solidFill>
                  <a:srgbClr val="0F228B"/>
                </a:solidFill>
                <a:latin typeface="Times New Roman"/>
              </a:rPr>
              <a:t>41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индивид в учебном наборе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663440"/>
            <a:ext cx="2103120" cy="1097280"/>
          </a:xfrm>
          <a:prstGeom prst="rect">
            <a:avLst/>
          </a:prstGeom>
          <a:solidFill>
            <a:srgbClr val="E4E8F7"/>
          </a:solidFill>
          <a:ln>
            <a:noFill/>
          </a:ln>
        </p:spPr>
        <p:txBody>
          <a:bodyPr rtlCol="0" anchor="ctr" wrap="square" lIns="137160" tIns="73152" bIns="54864">
            <a:noAutofit/>
          </a:bodyPr>
          <a:lstStyle/>
          <a:p>
            <a:pPr algn="l">
              <a:spcAft>
                <a:spcPts val="100"/>
              </a:spcAft>
            </a:pPr>
            <a:r>
              <a:rPr sz="2800" b="1" i="0" lang="ru-RU">
                <a:solidFill>
                  <a:srgbClr val="0F228B"/>
                </a:solidFill>
                <a:latin typeface="Times New Roman"/>
              </a:rPr>
              <a:t>8 из 8</a:t>
            </a:r>
          </a:p>
          <a:p>
            <a:pPr algn="l"/>
            <a:r>
              <a:rPr sz="1200" b="0" i="0" lang="ru-RU">
                <a:solidFill>
                  <a:srgbClr val="4B5063"/>
                </a:solidFill>
                <a:latin typeface="Times New Roman"/>
              </a:rPr>
              <a:t>запросов совпали с эталоном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R7-Office/2026.2.1.3364-2</Application>
  <DocSecurity>0</DocSecurity>
  <PresentationFormat>Произвольный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Онтология предметной области «Видеокарта» (VideoCardOntology v1.0.0)</dc:title>
  <dc:subject/>
  <dc:creator>Admin</dc:creator>
  <cp:keywords/>
  <dc:description/>
  <dc:identifier/>
  <dc:language>en-US</dc:language>
  <cp:lastModifiedBy>Павел Шегай</cp:lastModifiedBy>
  <cp:revision>11</cp:revision>
  <dcterms:modified xsi:type="dcterms:W3CDTF">2026-10-11T18:46:46Z</dcterms:modified>
  <cp:category/>
  <cp:contentStatus/>
  <cp:version/>
</cp:coreProperties>
</file>